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9" r:id="rId7"/>
    <p:sldId id="271" r:id="rId8"/>
    <p:sldId id="272" r:id="rId9"/>
    <p:sldId id="270" r:id="rId10"/>
    <p:sldId id="273" r:id="rId11"/>
    <p:sldId id="274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9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ba Almas Shaik" userId="b8cf85512791b529" providerId="LiveId" clId="{03905FA4-A843-4096-88F8-4020F0CAC281}"/>
    <pc:docChg chg="modSld">
      <pc:chgData name="Zeba Almas Shaik" userId="b8cf85512791b529" providerId="LiveId" clId="{03905FA4-A843-4096-88F8-4020F0CAC281}" dt="2026-03-05T07:46:25.620" v="15" actId="1076"/>
      <pc:docMkLst>
        <pc:docMk/>
      </pc:docMkLst>
      <pc:sldChg chg="modSp mod">
        <pc:chgData name="Zeba Almas Shaik" userId="b8cf85512791b529" providerId="LiveId" clId="{03905FA4-A843-4096-88F8-4020F0CAC281}" dt="2026-03-05T07:46:25.620" v="15" actId="1076"/>
        <pc:sldMkLst>
          <pc:docMk/>
          <pc:sldMk cId="0" sldId="259"/>
        </pc:sldMkLst>
        <pc:spChg chg="mod">
          <ac:chgData name="Zeba Almas Shaik" userId="b8cf85512791b529" providerId="LiveId" clId="{03905FA4-A843-4096-88F8-4020F0CAC281}" dt="2026-03-05T07:45:30.979" v="8" actId="1076"/>
          <ac:spMkLst>
            <pc:docMk/>
            <pc:sldMk cId="0" sldId="259"/>
            <ac:spMk id="2" creationId="{00000000-0000-0000-0000-000000000000}"/>
          </ac:spMkLst>
        </pc:spChg>
        <pc:graphicFrameChg chg="mod modGraphic">
          <ac:chgData name="Zeba Almas Shaik" userId="b8cf85512791b529" providerId="LiveId" clId="{03905FA4-A843-4096-88F8-4020F0CAC281}" dt="2026-03-05T07:46:25.620" v="15" actId="1076"/>
          <ac:graphicFrameMkLst>
            <pc:docMk/>
            <pc:sldMk cId="0" sldId="259"/>
            <ac:graphicFrameMk id="5" creationId="{30C26E27-E895-CE27-B281-A2B6DE84173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6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47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4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10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49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8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49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48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71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30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2868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55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8087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48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232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48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363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7612" y="808057"/>
            <a:ext cx="2732613" cy="205272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50000"/>
                  </a:schemeClr>
                </a:solidFill>
                <a:latin typeface="Californian FB" panose="0207040306080B030204" pitchFamily="18" charset="0"/>
              </a:rPr>
              <a:t>DATA ANALYSIS INTERNSHIP PROJECT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5584" y="2999839"/>
            <a:ext cx="2996668" cy="16402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Team NARUTO</a:t>
            </a:r>
            <a:b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Team lead : K JENNIFER, 20126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SR SRUJANA, </a:t>
            </a:r>
            <a:r>
              <a:rPr lang="en-IN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20165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IN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G Neeraja, 20123</a:t>
            </a:r>
            <a:endParaRPr lang="en-US" sz="16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2" name="Round Diagonal Corner Rectangle 6">
            <a:extLst>
              <a:ext uri="{FF2B5EF4-FFF2-40B4-BE49-F238E27FC236}">
                <a16:creationId xmlns:a16="http://schemas.microsoft.com/office/drawing/2014/main" id="{8B3F5CD4-CBC8-4A22-9DCC-0420CA28A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211" y="808057"/>
            <a:ext cx="506434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34C201-D64C-C3A9-6394-3D9B1EB539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089"/>
          <a:stretch>
            <a:fillRect/>
          </a:stretch>
        </p:blipFill>
        <p:spPr>
          <a:xfrm>
            <a:off x="6325302" y="1"/>
            <a:ext cx="2818698" cy="584616"/>
          </a:xfrm>
          <a:prstGeom prst="rect">
            <a:avLst/>
          </a:prstGeom>
        </p:spPr>
      </p:pic>
      <p:sp>
        <p:nvSpPr>
          <p:cNvPr id="101" name="Subtitle 2">
            <a:extLst>
              <a:ext uri="{FF2B5EF4-FFF2-40B4-BE49-F238E27FC236}">
                <a16:creationId xmlns:a16="http://schemas.microsoft.com/office/drawing/2014/main" id="{66669669-C7F0-0381-6AD4-9290EA531FA6}"/>
              </a:ext>
            </a:extLst>
          </p:cNvPr>
          <p:cNvSpPr txBox="1">
            <a:spLocks/>
          </p:cNvSpPr>
          <p:nvPr/>
        </p:nvSpPr>
        <p:spPr>
          <a:xfrm>
            <a:off x="5644359" y="5191621"/>
            <a:ext cx="3499642" cy="2052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Supervisor Name : A ZAHEER SHA</a:t>
            </a:r>
            <a:br>
              <a:rPr lang="en-US" sz="1600" dirty="0"/>
            </a:br>
            <a:r>
              <a:rPr lang="en-US" sz="1600" dirty="0"/>
              <a:t>Trainers Name: A JAYANTH, SHAIK RAFEEQ AHAMED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3B6306-851B-F2EC-31DE-E4DA9A5EF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29" y="1079844"/>
            <a:ext cx="4698312" cy="4698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0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50" y="-14287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68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082673"/>
            <a:ext cx="2152062" cy="4708528"/>
          </a:xfrm>
        </p:spPr>
        <p:txBody>
          <a:bodyPr>
            <a:normAutofit/>
          </a:bodyPr>
          <a:lstStyle/>
          <a:p>
            <a:pPr algn="r"/>
            <a:r>
              <a:rPr lang="en-US" sz="3200" dirty="0"/>
              <a:t>About the Internship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2" y="1082673"/>
            <a:ext cx="4313428" cy="470852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INTERNCALL</a:t>
            </a:r>
          </a:p>
          <a:p>
            <a:pPr marL="0" indent="0">
              <a:buNone/>
            </a:pPr>
            <a:r>
              <a:rPr lang="en-US" sz="1600" dirty="0"/>
              <a:t>• Duration: 2 Months </a:t>
            </a:r>
          </a:p>
          <a:p>
            <a:pPr marL="0" indent="0">
              <a:buNone/>
            </a:pPr>
            <a:r>
              <a:rPr lang="en-US" sz="1600" dirty="0"/>
              <a:t>• Role: Data Analyst Intern • Tools Used: Pandas and Matplotlib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97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FBE8558-64D9-ADF1-7D4C-DF8FDD808F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089"/>
          <a:stretch>
            <a:fillRect/>
          </a:stretch>
        </p:blipFill>
        <p:spPr>
          <a:xfrm>
            <a:off x="6325302" y="1"/>
            <a:ext cx="2818698" cy="584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50" y="-14287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082673"/>
            <a:ext cx="2152062" cy="4708528"/>
          </a:xfrm>
        </p:spPr>
        <p:txBody>
          <a:bodyPr>
            <a:normAutofit/>
          </a:bodyPr>
          <a:lstStyle/>
          <a:p>
            <a:pPr algn="r"/>
            <a:r>
              <a:rPr lang="en-US" sz="3200"/>
              <a:t>Problem Statement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2" y="1082673"/>
            <a:ext cx="4313428" cy="647702"/>
          </a:xfrm>
        </p:spPr>
        <p:txBody>
          <a:bodyPr anchor="ctr">
            <a:normAutofit/>
          </a:bodyPr>
          <a:lstStyle/>
          <a:p>
            <a:r>
              <a:rPr lang="en-IN" sz="1600" dirty="0"/>
              <a:t>College Fee Collection Performance Analysis</a:t>
            </a:r>
            <a:endParaRPr lang="en-US" sz="16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E80071B-BEBF-771A-BC3F-1A404C99DE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089"/>
          <a:stretch>
            <a:fillRect/>
          </a:stretch>
        </p:blipFill>
        <p:spPr>
          <a:xfrm>
            <a:off x="6325302" y="1"/>
            <a:ext cx="2818698" cy="5846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F32B51-0DC3-B015-6E93-9506D9EDA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653" y="1903413"/>
            <a:ext cx="3979728" cy="40108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50" y="-14287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8367" y="256381"/>
            <a:ext cx="3387688" cy="969265"/>
          </a:xfrm>
        </p:spPr>
        <p:txBody>
          <a:bodyPr>
            <a:normAutofit/>
          </a:bodyPr>
          <a:lstStyle/>
          <a:p>
            <a:pPr algn="r"/>
            <a:r>
              <a:rPr lang="en-US" sz="2500" dirty="0"/>
              <a:t>Dataset Information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0C26E27-E895-CE27-B281-A2B6DE841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9724453"/>
              </p:ext>
            </p:extLst>
          </p:nvPr>
        </p:nvGraphicFramePr>
        <p:xfrm>
          <a:off x="1038852" y="1456981"/>
          <a:ext cx="7239558" cy="435285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42255">
                  <a:extLst>
                    <a:ext uri="{9D8B030D-6E8A-4147-A177-3AD203B41FA5}">
                      <a16:colId xmlns:a16="http://schemas.microsoft.com/office/drawing/2014/main" val="202318494"/>
                    </a:ext>
                  </a:extLst>
                </a:gridCol>
                <a:gridCol w="814942">
                  <a:extLst>
                    <a:ext uri="{9D8B030D-6E8A-4147-A177-3AD203B41FA5}">
                      <a16:colId xmlns:a16="http://schemas.microsoft.com/office/drawing/2014/main" val="3515102630"/>
                    </a:ext>
                  </a:extLst>
                </a:gridCol>
                <a:gridCol w="724910">
                  <a:extLst>
                    <a:ext uri="{9D8B030D-6E8A-4147-A177-3AD203B41FA5}">
                      <a16:colId xmlns:a16="http://schemas.microsoft.com/office/drawing/2014/main" val="2102484831"/>
                    </a:ext>
                  </a:extLst>
                </a:gridCol>
                <a:gridCol w="666655">
                  <a:extLst>
                    <a:ext uri="{9D8B030D-6E8A-4147-A177-3AD203B41FA5}">
                      <a16:colId xmlns:a16="http://schemas.microsoft.com/office/drawing/2014/main" val="3856490356"/>
                    </a:ext>
                  </a:extLst>
                </a:gridCol>
                <a:gridCol w="666655">
                  <a:extLst>
                    <a:ext uri="{9D8B030D-6E8A-4147-A177-3AD203B41FA5}">
                      <a16:colId xmlns:a16="http://schemas.microsoft.com/office/drawing/2014/main" val="1685364179"/>
                    </a:ext>
                  </a:extLst>
                </a:gridCol>
                <a:gridCol w="666655">
                  <a:extLst>
                    <a:ext uri="{9D8B030D-6E8A-4147-A177-3AD203B41FA5}">
                      <a16:colId xmlns:a16="http://schemas.microsoft.com/office/drawing/2014/main" val="1436332648"/>
                    </a:ext>
                  </a:extLst>
                </a:gridCol>
                <a:gridCol w="737328">
                  <a:extLst>
                    <a:ext uri="{9D8B030D-6E8A-4147-A177-3AD203B41FA5}">
                      <a16:colId xmlns:a16="http://schemas.microsoft.com/office/drawing/2014/main" val="162015349"/>
                    </a:ext>
                  </a:extLst>
                </a:gridCol>
                <a:gridCol w="821151">
                  <a:extLst>
                    <a:ext uri="{9D8B030D-6E8A-4147-A177-3AD203B41FA5}">
                      <a16:colId xmlns:a16="http://schemas.microsoft.com/office/drawing/2014/main" val="1930339748"/>
                    </a:ext>
                  </a:extLst>
                </a:gridCol>
                <a:gridCol w="1099007">
                  <a:extLst>
                    <a:ext uri="{9D8B030D-6E8A-4147-A177-3AD203B41FA5}">
                      <a16:colId xmlns:a16="http://schemas.microsoft.com/office/drawing/2014/main" val="2190474646"/>
                    </a:ext>
                  </a:extLst>
                </a:gridCol>
              </a:tblGrid>
              <a:tr h="644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Student_ID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StudentName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Department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Year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Semester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Total Fee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Amount Paid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Payment Date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Scholarship Amount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136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Kavya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Bcom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3rd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15000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16-08-2025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9371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Srujana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Bcom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3rd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15000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12-08-2025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05973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Neeraja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Bcom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3rd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15000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14-08-2025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5298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Husna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Bcom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3rd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23-09-2025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1500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07577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Jennifer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Bcom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3rd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10-09-2025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1500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266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Zeba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Bcom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3rd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20-09-2025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1500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038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Vennela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Bcom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3rd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15000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13-10-2025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4907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Keerthana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Bcom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3rd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15000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22-10-2025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68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Lakshmi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Bcom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3rd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16-10-2025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5616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Radhika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Bcom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3rd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18-10-2025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3000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4659994"/>
                  </a:ext>
                </a:extLst>
              </a:tr>
            </a:tbl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275F227-8DD1-34F3-243C-EAA9ADA6D6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089"/>
          <a:stretch>
            <a:fillRect/>
          </a:stretch>
        </p:blipFill>
        <p:spPr>
          <a:xfrm>
            <a:off x="6325302" y="1"/>
            <a:ext cx="2818698" cy="584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50" y="-14287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082673"/>
            <a:ext cx="2152062" cy="4708528"/>
          </a:xfrm>
        </p:spPr>
        <p:txBody>
          <a:bodyPr>
            <a:normAutofit/>
          </a:bodyPr>
          <a:lstStyle/>
          <a:p>
            <a:pPr algn="r"/>
            <a:r>
              <a:rPr lang="en-US" sz="2200"/>
              <a:t>Tools &amp; Technologies Used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2" y="1082673"/>
            <a:ext cx="4313428" cy="4708528"/>
          </a:xfrm>
        </p:spPr>
        <p:txBody>
          <a:bodyPr anchor="ctr">
            <a:normAutofit/>
          </a:bodyPr>
          <a:lstStyle/>
          <a:p>
            <a:r>
              <a:rPr lang="en-IN" sz="2000" dirty="0"/>
              <a:t>Pandas</a:t>
            </a:r>
          </a:p>
          <a:p>
            <a:r>
              <a:rPr lang="en-IN" sz="2000" dirty="0"/>
              <a:t> Matplotlib </a:t>
            </a:r>
          </a:p>
          <a:p>
            <a:r>
              <a:rPr lang="en-IN" sz="2000" dirty="0"/>
              <a:t>Python </a:t>
            </a:r>
          </a:p>
          <a:p>
            <a:r>
              <a:rPr lang="en-IN" sz="2000" dirty="0"/>
              <a:t>Google </a:t>
            </a:r>
            <a:r>
              <a:rPr lang="en-IN" sz="2000" dirty="0" err="1"/>
              <a:t>Colab</a:t>
            </a:r>
            <a:endParaRPr lang="en-US" sz="20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46811E4-8782-20ED-9B34-852BECCFA0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089"/>
          <a:stretch>
            <a:fillRect/>
          </a:stretch>
        </p:blipFill>
        <p:spPr>
          <a:xfrm>
            <a:off x="6325302" y="1"/>
            <a:ext cx="2818698" cy="584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FC6473-34B3-0D9C-FA57-C2881B4DA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1375F2-60B1-44ED-B60A-019C4BD5A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694591-5891-81D4-5C01-43472498D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rPr lang="en-US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B5DB6-1A33-8EC0-6AF1-607A5B3C7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374" y="1567284"/>
            <a:ext cx="5928392" cy="206700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dirty="0" err="1"/>
              <a:t>plt.figure</a:t>
            </a:r>
            <a:r>
              <a:rPr lang="en-US" sz="1200" dirty="0"/>
              <a:t>(</a:t>
            </a:r>
            <a:r>
              <a:rPr lang="en-US" sz="1200" dirty="0" err="1"/>
              <a:t>figsize</a:t>
            </a:r>
            <a:r>
              <a:rPr lang="en-US" sz="1200" dirty="0"/>
              <a:t>=(8,5))</a:t>
            </a:r>
            <a:r>
              <a:rPr lang="en-US" sz="1200" dirty="0" err="1"/>
              <a:t>plt.bar</a:t>
            </a:r>
            <a:r>
              <a:rPr lang="en-US" sz="1200" dirty="0"/>
              <a:t>(</a:t>
            </a:r>
            <a:r>
              <a:rPr lang="en-US" sz="1200" dirty="0" err="1"/>
              <a:t>df</a:t>
            </a:r>
            <a:r>
              <a:rPr lang="en-US" sz="1200" dirty="0"/>
              <a:t>["</a:t>
            </a:r>
            <a:r>
              <a:rPr lang="en-US" sz="1200" dirty="0" err="1"/>
              <a:t>StudentName</a:t>
            </a:r>
            <a:r>
              <a:rPr lang="en-US" sz="1200" dirty="0"/>
              <a:t>"], </a:t>
            </a:r>
            <a:r>
              <a:rPr lang="en-US" sz="1200" dirty="0" err="1"/>
              <a:t>df</a:t>
            </a:r>
            <a:r>
              <a:rPr lang="en-US" sz="1200" dirty="0"/>
              <a:t>["Amount Paid"])</a:t>
            </a:r>
            <a:r>
              <a:rPr lang="en-US" sz="1200" dirty="0" err="1"/>
              <a:t>plt.xticks</a:t>
            </a:r>
            <a:r>
              <a:rPr lang="en-US" sz="1200" dirty="0"/>
              <a:t>(rotation=45)</a:t>
            </a:r>
            <a:r>
              <a:rPr lang="en-US" sz="1200" dirty="0" err="1"/>
              <a:t>plt.title</a:t>
            </a:r>
            <a:r>
              <a:rPr lang="en-US" sz="1200" dirty="0"/>
              <a:t>("Amount Paid by Students")</a:t>
            </a:r>
            <a:r>
              <a:rPr lang="en-US" sz="1200" dirty="0" err="1"/>
              <a:t>plt.xlabel</a:t>
            </a:r>
            <a:r>
              <a:rPr lang="en-US" sz="1200" dirty="0"/>
              <a:t>("Students")</a:t>
            </a:r>
            <a:r>
              <a:rPr lang="en-US" sz="1200" dirty="0" err="1"/>
              <a:t>plt.ylabel</a:t>
            </a:r>
            <a:r>
              <a:rPr lang="en-US" sz="1200" dirty="0"/>
              <a:t>("Amount Paid")</a:t>
            </a:r>
            <a:r>
              <a:rPr lang="en-US" sz="1200" dirty="0" err="1"/>
              <a:t>plt.tight_layout</a:t>
            </a:r>
            <a:r>
              <a:rPr lang="en-US" sz="1200" dirty="0"/>
              <a:t>()</a:t>
            </a:r>
            <a:r>
              <a:rPr lang="en-US" sz="1200" dirty="0" err="1"/>
              <a:t>plt.show</a:t>
            </a:r>
            <a:r>
              <a:rPr lang="en-US" sz="1200" dirty="0"/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485B3F6-654D-4842-A2DE-677D12FED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BF4365F4-C63C-4FC2-907B-1F7D414B95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B0538225-01AB-41C4-9A02-FE1BD81D6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66942F07-D7CC-49EB-BF73-8B94D5F4F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4D3CACE0-3AC7-4A9F-9A3F-1694ACCD4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19063B47-FBFB-4EA1-A3FB-BECE005F4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B856863B-C809-4C31-94D0-659A91851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298CB3D7-7373-4AC6-9E2C-4AFDDE280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7DE09F1B-2326-4ED3-B63B-A30815DDE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2498F244-3CE6-4D90-B5CF-5189DB17D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41">
              <a:extLst>
                <a:ext uri="{FF2B5EF4-FFF2-40B4-BE49-F238E27FC236}">
                  <a16:creationId xmlns:a16="http://schemas.microsoft.com/office/drawing/2014/main" id="{9A30DD13-FA10-4B9F-8B4D-97B7287B8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CF0C807-904D-2BAF-A6B8-D4EFC09197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089"/>
          <a:stretch>
            <a:fillRect/>
          </a:stretch>
        </p:blipFill>
        <p:spPr>
          <a:xfrm>
            <a:off x="6325302" y="1"/>
            <a:ext cx="2818698" cy="584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2D3B62-4DCC-8AC2-8F57-F27C3D38A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19" y="2367758"/>
            <a:ext cx="2300856" cy="22782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195604-0A6F-9801-8BF2-0E22E08BDB36}"/>
              </a:ext>
            </a:extLst>
          </p:cNvPr>
          <p:cNvSpPr txBox="1"/>
          <p:nvPr/>
        </p:nvSpPr>
        <p:spPr>
          <a:xfrm>
            <a:off x="623896" y="4701826"/>
            <a:ext cx="68873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plt.figure</a:t>
            </a:r>
            <a:r>
              <a:rPr lang="en-US" sz="1200" dirty="0"/>
              <a:t>(</a:t>
            </a:r>
            <a:r>
              <a:rPr lang="en-US" sz="1200" dirty="0" err="1"/>
              <a:t>figsize</a:t>
            </a:r>
            <a:r>
              <a:rPr lang="en-US" sz="1200" dirty="0"/>
              <a:t>=(8,5))</a:t>
            </a:r>
          </a:p>
          <a:p>
            <a:r>
              <a:rPr lang="en-US" sz="1200" dirty="0" err="1"/>
              <a:t>plt.hist</a:t>
            </a:r>
            <a:r>
              <a:rPr lang="en-US" sz="1200" dirty="0"/>
              <a:t>(</a:t>
            </a:r>
            <a:r>
              <a:rPr lang="en-US" sz="1200" dirty="0" err="1"/>
              <a:t>df</a:t>
            </a:r>
            <a:r>
              <a:rPr lang="en-US" sz="1200" dirty="0"/>
              <a:t>["</a:t>
            </a:r>
            <a:r>
              <a:rPr lang="en-US" sz="1200" dirty="0" err="1"/>
              <a:t>Pending_Amount</a:t>
            </a:r>
            <a:r>
              <a:rPr lang="en-US" sz="1200" dirty="0"/>
              <a:t>"])</a:t>
            </a:r>
          </a:p>
          <a:p>
            <a:r>
              <a:rPr lang="en-US" sz="1200" dirty="0" err="1"/>
              <a:t>plt.title</a:t>
            </a:r>
            <a:r>
              <a:rPr lang="en-US" sz="1200" dirty="0"/>
              <a:t>("Pending Amount Distribution")</a:t>
            </a:r>
          </a:p>
          <a:p>
            <a:r>
              <a:rPr lang="en-US" sz="1200" dirty="0" err="1"/>
              <a:t>plt.xlabel</a:t>
            </a:r>
            <a:r>
              <a:rPr lang="en-US" sz="1200" dirty="0"/>
              <a:t>("Pending Amount")</a:t>
            </a:r>
            <a:r>
              <a:rPr lang="en-US" sz="1200" dirty="0" err="1"/>
              <a:t>plt.ylabel</a:t>
            </a:r>
            <a:r>
              <a:rPr lang="en-US" sz="1200" dirty="0"/>
              <a:t>("Number of Students")</a:t>
            </a:r>
            <a:r>
              <a:rPr lang="en-US" sz="1200" dirty="0" err="1"/>
              <a:t>plt.show</a:t>
            </a:r>
            <a:r>
              <a:rPr lang="en-US" sz="1200" dirty="0"/>
              <a:t>()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FE964D2-7BA0-1C88-8E94-E3BFBBB81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164" y="4168056"/>
            <a:ext cx="3638288" cy="225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27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EA30DA-71E6-4E49-746D-CBE0FABD2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743FC6-62C3-098C-30F7-E7328B3AC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F4B1AFF-0721-6F2B-B085-F86C4CE42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B6F9575A-B575-383F-9CB2-29094018E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75B88979-43B3-EEF1-FCC8-4FDC146491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B01BB07-15F7-364D-F566-806056917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61209FCC-CF7D-5028-C9F9-065FFAB87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8219BC7-5244-1085-A2F4-F7CC8C0DC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C78B4923-885A-BFE5-74AC-8D7B91113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98C5C047-CFB9-02D4-ED12-7E8F60C1A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420FE2DC-2A92-1224-0647-C6DB10AFF3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0C1B0649-DE55-481C-67C3-C37B50FA4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682E2F48-5BF8-150F-DCB7-F1561B8B1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DF2D0B9-00F5-32CB-2268-D308BCAC3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EA3A1BB5-AE8E-A498-5CEB-823F67EBE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3A27CF7-9387-3629-45D7-8AA6F88C3E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2B12A678-7D53-2B01-70D1-51DB327E68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DC9F8E9-80A4-9DC1-7DEB-3045B2F32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1EFD6EFD-9BAB-1498-52D1-9CE3E1F8A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A74B4078-0E46-E264-4D43-71AE50CB4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7614927D-E0EA-4549-6327-58E806095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A29FEB1-5167-63F8-FAB7-4E103306C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E8EE2BE-BA7D-7756-B81D-2165D8091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8A365E7F-17C6-B7C8-D1D2-BB50C3467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8F11406B-0733-A784-E32F-5CF8BF1DC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099477BB-6E48-0C9C-3390-BC4D46BC6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1EA59720-BAF6-C8F1-6BD1-DCAE4832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8F7663A1-76C0-41C7-5EE5-5349C4BF55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BF078BFE-7A5E-DB53-1852-E6CEB1DD2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7B8F57EF-FA82-FFA2-D401-BFACD28B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0C98DE-CDA1-2425-7175-7B22BC74D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rPr lang="en-US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DF5B-464D-F2AA-4D77-0CCDB1936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374" y="1567284"/>
            <a:ext cx="5928392" cy="206700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err="1"/>
              <a:t>plt.figure</a:t>
            </a:r>
            <a:r>
              <a:rPr lang="en-US" sz="1800" dirty="0"/>
              <a:t>(</a:t>
            </a:r>
            <a:r>
              <a:rPr lang="en-US" sz="1800" dirty="0" err="1"/>
              <a:t>figsize</a:t>
            </a:r>
            <a:r>
              <a:rPr lang="en-US" sz="1800" dirty="0"/>
              <a:t>=(8,5))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/>
              <a:t>plt.bar</a:t>
            </a:r>
            <a:r>
              <a:rPr lang="en-US" sz="1800" dirty="0"/>
              <a:t>(</a:t>
            </a:r>
            <a:r>
              <a:rPr lang="en-US" sz="1800" dirty="0" err="1"/>
              <a:t>df</a:t>
            </a:r>
            <a:r>
              <a:rPr lang="en-US" sz="1800" dirty="0"/>
              <a:t>["</a:t>
            </a:r>
            <a:r>
              <a:rPr lang="en-US" sz="1800" dirty="0" err="1"/>
              <a:t>StudentName</a:t>
            </a:r>
            <a:r>
              <a:rPr lang="en-US" sz="1800" dirty="0"/>
              <a:t>"], </a:t>
            </a:r>
            <a:r>
              <a:rPr lang="en-US" sz="1800" dirty="0" err="1"/>
              <a:t>df</a:t>
            </a:r>
            <a:r>
              <a:rPr lang="en-US" sz="1800" dirty="0"/>
              <a:t>["</a:t>
            </a:r>
            <a:r>
              <a:rPr lang="en-US" sz="1800" dirty="0" err="1"/>
              <a:t>Pending_Amount</a:t>
            </a:r>
            <a:r>
              <a:rPr lang="en-US" sz="1800" dirty="0"/>
              <a:t>"])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/>
              <a:t>plt.xticks</a:t>
            </a:r>
            <a:r>
              <a:rPr lang="en-US" sz="1800" dirty="0"/>
              <a:t>(rotation=45)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/>
              <a:t>plt.title</a:t>
            </a:r>
            <a:r>
              <a:rPr lang="en-US" sz="1800" dirty="0"/>
              <a:t>("Pending Amount by Students")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/>
              <a:t>plt.xlabel</a:t>
            </a:r>
            <a:r>
              <a:rPr lang="en-US" sz="1800" dirty="0"/>
              <a:t>("Students")</a:t>
            </a:r>
            <a:r>
              <a:rPr lang="en-US" sz="1800" dirty="0" err="1"/>
              <a:t>plt.ylabel</a:t>
            </a:r>
            <a:r>
              <a:rPr lang="en-US" sz="1800" dirty="0"/>
              <a:t>("Pending Amount")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/>
              <a:t>plt.tight_layout</a:t>
            </a:r>
            <a:r>
              <a:rPr lang="en-US" sz="1800" dirty="0"/>
              <a:t>()</a:t>
            </a:r>
            <a:r>
              <a:rPr lang="en-US" sz="1800" dirty="0" err="1"/>
              <a:t>plt.show</a:t>
            </a:r>
            <a:r>
              <a:rPr lang="en-US" sz="1800" dirty="0"/>
              <a:t>()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ACEA219-C721-2F9D-DD99-9314B5839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5F8E1D36-8128-1C55-6235-C0BC4E4D4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B727ECFF-D103-48A4-EF4F-A98A412C47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15CAAE9B-F2B3-F82D-BD48-56B48C585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BC3A6222-3051-979F-EDE4-A2F779C6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7DCF27DB-66E7-2AC5-37ED-525288699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A225FC86-D414-7E39-F486-2E9BBF58D4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619FEF0D-66CA-3CBE-FF43-96EC95F5D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F661F32C-7DB0-3E92-8783-F0D3B4638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E7CEA23D-206D-8718-BD8C-6F7EFCECC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41">
              <a:extLst>
                <a:ext uri="{FF2B5EF4-FFF2-40B4-BE49-F238E27FC236}">
                  <a16:creationId xmlns:a16="http://schemas.microsoft.com/office/drawing/2014/main" id="{0918676D-1997-2A1B-8E24-652163ECD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95E27D6-5A95-0881-5F91-4096121A59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089"/>
          <a:stretch>
            <a:fillRect/>
          </a:stretch>
        </p:blipFill>
        <p:spPr>
          <a:xfrm>
            <a:off x="6325302" y="1"/>
            <a:ext cx="2818698" cy="584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EFE673-2D3E-6A99-4CE5-4C12132C6A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31426" y="3879389"/>
            <a:ext cx="3714872" cy="230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024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D3D47-74D0-0952-34A0-BC7E8AD4C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546FBA3-CE98-35B3-8720-9A8BD040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585E524-9C35-735F-AA38-1108851FD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A5FB4947-6B38-406F-31C8-E55A6CBC0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23E46F9-41DC-087A-73F2-8FE74FE9B1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6C36B2E-CBE9-544A-3904-B8A9B8C43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B2119D0-B331-50F9-853C-C261EEA24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C76DB5B-CE74-4E12-DFCD-52DFEEB2A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2B774389-C003-D4C4-A5E7-A5E18B5F5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8BF59C4-FC25-EC57-502E-A338F974AB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6B9769AE-2B96-055D-8DE8-F29ED4BEB3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2EA5721C-1AC7-03DD-6D31-D79332052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67AAA378-0563-0317-FA4A-A71849617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698699F8-B800-0281-C6DC-B693F3EAD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3B2E14B0-A588-9175-1692-CA493DCAC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27055466-7B14-68BC-706D-9E348B26A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C9C7C18-DFF3-F6CD-02EE-932A79C4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2E34B635-1F3F-EED0-9956-C281B8CBF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43AB36AE-A7E2-F8CE-7E50-3EAF0149B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716C41EB-B896-BF8A-36D7-CFFCCD3EE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30EAD24D-AF6B-83E4-4479-644F090A8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52063467-B7BF-A9CA-CAD8-BE9ECC3C21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A79057C7-D798-E5EF-D07E-23E2D096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131BB519-F0F8-A278-E97B-1A724B89D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F29ED5AD-B493-352A-8BDF-645392F008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B63CBAE3-162B-51A3-AC6A-FC607894DD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83933BA-174B-44A4-6018-74EAC8FF8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F76A9F3-F884-C848-B3D4-3202ADF5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C9DA1E44-6F5B-66D2-8486-1A6C9EF40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AB3F6487-8BE3-79F9-73CB-F19AE6EB44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60B09F-CB6B-A1EA-7FF1-90DF958D9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022" y="-48907"/>
            <a:ext cx="7429499" cy="1478570"/>
          </a:xfrm>
        </p:spPr>
        <p:txBody>
          <a:bodyPr>
            <a:normAutofit/>
          </a:bodyPr>
          <a:lstStyle/>
          <a:p>
            <a:r>
              <a:rPr lang="en-US" dirty="0"/>
              <a:t>outputs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A47A850-2C19-B233-3F99-9ABD65247A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871" y="1274763"/>
            <a:ext cx="3858580" cy="2509837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E908E-4DDD-D9E0-705F-7BE76C7AC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0FC28942-1DD8-9989-B817-E3E98C27F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82608846-0CC9-388B-B71E-21768C349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46F1EAC3-6024-959F-ACFB-DA252337D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F7A16DE3-715E-BB76-2DAB-08B947C6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3A51BC96-EAA1-CC21-7A65-97A8DE01F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B812310C-FFEC-6CDA-CEEE-C65440085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82A942AC-393F-573F-F1C9-6AF871B48E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4F6CCFC9-31D3-F1BF-B3E8-EBA7E1E6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435DE93A-90F0-59BA-CCC0-57FD5BEE0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41">
              <a:extLst>
                <a:ext uri="{FF2B5EF4-FFF2-40B4-BE49-F238E27FC236}">
                  <a16:creationId xmlns:a16="http://schemas.microsoft.com/office/drawing/2014/main" id="{02986118-5CDB-CCFA-16DC-871E898DC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A470E8D-83F8-0D34-2001-BBB26D4087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089"/>
          <a:stretch>
            <a:fillRect/>
          </a:stretch>
        </p:blipFill>
        <p:spPr>
          <a:xfrm>
            <a:off x="6325302" y="1"/>
            <a:ext cx="2818698" cy="584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30EB23-0118-5752-CEF1-EE73E11375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60394" y="1265626"/>
            <a:ext cx="3013310" cy="255442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D15C3DC-EAB4-76D0-48A2-910EFBD7AF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38387" y="4115594"/>
            <a:ext cx="2951815" cy="225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609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C00B0-272E-8EE2-434C-A10E5519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C6A1C-F6EA-58EB-6160-EA5CF72BE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1821470"/>
            <a:ext cx="8054476" cy="2511426"/>
          </a:xfrm>
        </p:spPr>
        <p:txBody>
          <a:bodyPr/>
          <a:lstStyle/>
          <a:p>
            <a:r>
              <a:rPr lang="en-US" dirty="0"/>
              <a:t>Handling missing or incomplete student fee data</a:t>
            </a:r>
          </a:p>
          <a:p>
            <a:r>
              <a:rPr lang="en-US" dirty="0"/>
              <a:t> Ensuring the CSV file loads correctly in different environments </a:t>
            </a:r>
          </a:p>
          <a:p>
            <a:r>
              <a:rPr lang="en-US" dirty="0"/>
              <a:t>Managing file loading issues</a:t>
            </a:r>
          </a:p>
          <a:p>
            <a:r>
              <a:rPr lang="en-US" dirty="0"/>
              <a:t> Difficulty in cleaning the </a:t>
            </a:r>
            <a:r>
              <a:rPr lang="en-US" dirty="0" err="1"/>
              <a:t>datase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668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80C1B-F798-8395-56DF-88B75014B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B2F1-3C81-F022-F13A-E1DBB0F6F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01A27-CFC6-EB37-291E-8358F3AF6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1821470"/>
            <a:ext cx="8054476" cy="25114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This project successfully analyzed college fee data to identify paid and pending students. Using Python and data visualization ,the fee collection status become clear and easy to understand. The </a:t>
            </a:r>
            <a:r>
              <a:rPr lang="en-US" sz="3200" dirty="0" err="1"/>
              <a:t>orject</a:t>
            </a:r>
            <a:r>
              <a:rPr lang="en-US" sz="3200" dirty="0"/>
              <a:t> helps improve financial tracking and decision making for the institution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79693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C52C6-04A8-792C-1BAA-BFFD8A2C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C560A284-2717-DBC5-E0F0-E5BB2F065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50" y="-14287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93AEA1B-A6FE-0248-E9D5-7965615DB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68" name="Rectangle 5">
              <a:extLst>
                <a:ext uri="{FF2B5EF4-FFF2-40B4-BE49-F238E27FC236}">
                  <a16:creationId xmlns:a16="http://schemas.microsoft.com/office/drawing/2014/main" id="{82861BE0-552E-D403-478A-DF98E04F9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">
              <a:extLst>
                <a:ext uri="{FF2B5EF4-FFF2-40B4-BE49-F238E27FC236}">
                  <a16:creationId xmlns:a16="http://schemas.microsoft.com/office/drawing/2014/main" id="{0203AD4A-FA8A-00A7-CD7D-24D896677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45B7D04B-5340-60A9-66F0-037D6F18D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3FF43F3F-DE6B-2DF1-65F0-66959B318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EE395821-4144-191D-892D-F4E31FEFC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0214C64D-DC5E-51BF-8B98-8220517EF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1">
              <a:extLst>
                <a:ext uri="{FF2B5EF4-FFF2-40B4-BE49-F238E27FC236}">
                  <a16:creationId xmlns:a16="http://schemas.microsoft.com/office/drawing/2014/main" id="{BFDA084F-8B10-40B9-BCE0-2C9095D0E4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2">
              <a:extLst>
                <a:ext uri="{FF2B5EF4-FFF2-40B4-BE49-F238E27FC236}">
                  <a16:creationId xmlns:a16="http://schemas.microsoft.com/office/drawing/2014/main" id="{8EC7F9D1-0586-D433-39D3-1C1C49B48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F01BA016-F5D2-2DC3-797B-184662CE7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30857CD6-1409-19E3-7E15-45B087A85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5">
              <a:extLst>
                <a:ext uri="{FF2B5EF4-FFF2-40B4-BE49-F238E27FC236}">
                  <a16:creationId xmlns:a16="http://schemas.microsoft.com/office/drawing/2014/main" id="{06913941-2DE9-EE11-E069-28AD0794BC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16">
              <a:extLst>
                <a:ext uri="{FF2B5EF4-FFF2-40B4-BE49-F238E27FC236}">
                  <a16:creationId xmlns:a16="http://schemas.microsoft.com/office/drawing/2014/main" id="{FF4D1A0D-A911-DD92-0AE8-64DC883A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7">
              <a:extLst>
                <a:ext uri="{FF2B5EF4-FFF2-40B4-BE49-F238E27FC236}">
                  <a16:creationId xmlns:a16="http://schemas.microsoft.com/office/drawing/2014/main" id="{2AE33297-DDBE-C2DC-CA57-95EE032CA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8">
              <a:extLst>
                <a:ext uri="{FF2B5EF4-FFF2-40B4-BE49-F238E27FC236}">
                  <a16:creationId xmlns:a16="http://schemas.microsoft.com/office/drawing/2014/main" id="{6795CC6D-E693-D172-27F2-B1A7EA064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9">
              <a:extLst>
                <a:ext uri="{FF2B5EF4-FFF2-40B4-BE49-F238E27FC236}">
                  <a16:creationId xmlns:a16="http://schemas.microsoft.com/office/drawing/2014/main" id="{17655EEF-D5AE-0C0C-99F4-0E74FB4BC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20">
              <a:extLst>
                <a:ext uri="{FF2B5EF4-FFF2-40B4-BE49-F238E27FC236}">
                  <a16:creationId xmlns:a16="http://schemas.microsoft.com/office/drawing/2014/main" id="{B121DC66-836B-F5F4-335F-262ED556DF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Rectangle 21">
              <a:extLst>
                <a:ext uri="{FF2B5EF4-FFF2-40B4-BE49-F238E27FC236}">
                  <a16:creationId xmlns:a16="http://schemas.microsoft.com/office/drawing/2014/main" id="{F0F83317-E625-AC73-8E2F-028EC1F6F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2">
              <a:extLst>
                <a:ext uri="{FF2B5EF4-FFF2-40B4-BE49-F238E27FC236}">
                  <a16:creationId xmlns:a16="http://schemas.microsoft.com/office/drawing/2014/main" id="{E4034E2A-8795-3181-44AD-752E77F1A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3">
              <a:extLst>
                <a:ext uri="{FF2B5EF4-FFF2-40B4-BE49-F238E27FC236}">
                  <a16:creationId xmlns:a16="http://schemas.microsoft.com/office/drawing/2014/main" id="{2CAE4FFD-06BA-7114-5BB5-7E86387AD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4">
              <a:extLst>
                <a:ext uri="{FF2B5EF4-FFF2-40B4-BE49-F238E27FC236}">
                  <a16:creationId xmlns:a16="http://schemas.microsoft.com/office/drawing/2014/main" id="{E8B4F9CB-C029-2F4C-9AA3-2274876E3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5">
              <a:extLst>
                <a:ext uri="{FF2B5EF4-FFF2-40B4-BE49-F238E27FC236}">
                  <a16:creationId xmlns:a16="http://schemas.microsoft.com/office/drawing/2014/main" id="{CC95CAC0-DE2B-B525-0226-C5EADFCF8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6">
              <a:extLst>
                <a:ext uri="{FF2B5EF4-FFF2-40B4-BE49-F238E27FC236}">
                  <a16:creationId xmlns:a16="http://schemas.microsoft.com/office/drawing/2014/main" id="{438197FA-53AD-7F7A-50D5-212E97B0D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7">
              <a:extLst>
                <a:ext uri="{FF2B5EF4-FFF2-40B4-BE49-F238E27FC236}">
                  <a16:creationId xmlns:a16="http://schemas.microsoft.com/office/drawing/2014/main" id="{38E9A98D-16BF-5BDA-CCE7-2707F9585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8">
              <a:extLst>
                <a:ext uri="{FF2B5EF4-FFF2-40B4-BE49-F238E27FC236}">
                  <a16:creationId xmlns:a16="http://schemas.microsoft.com/office/drawing/2014/main" id="{F37824E9-752E-526B-1D1A-5592874B2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9">
              <a:extLst>
                <a:ext uri="{FF2B5EF4-FFF2-40B4-BE49-F238E27FC236}">
                  <a16:creationId xmlns:a16="http://schemas.microsoft.com/office/drawing/2014/main" id="{1B1AF730-CDA8-5273-3234-DA6C8D466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30">
              <a:extLst>
                <a:ext uri="{FF2B5EF4-FFF2-40B4-BE49-F238E27FC236}">
                  <a16:creationId xmlns:a16="http://schemas.microsoft.com/office/drawing/2014/main" id="{D4030F95-58BB-FC50-EF37-6DE9AAB05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31">
              <a:extLst>
                <a:ext uri="{FF2B5EF4-FFF2-40B4-BE49-F238E27FC236}">
                  <a16:creationId xmlns:a16="http://schemas.microsoft.com/office/drawing/2014/main" id="{E7AA39B6-1813-E8B3-3B28-71B209FA6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03F0C5B-7697-39BE-F3F3-126B87DF8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09" y="1030287"/>
            <a:ext cx="3016846" cy="4708528"/>
          </a:xfrm>
        </p:spPr>
        <p:txBody>
          <a:bodyPr>
            <a:normAutofit/>
          </a:bodyPr>
          <a:lstStyle/>
          <a:p>
            <a:r>
              <a:rPr lang="en-IN" sz="3200" dirty="0"/>
              <a:t>Future Improvements</a:t>
            </a:r>
            <a:endParaRPr lang="en-US" sz="3200" dirty="0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D09ACE0-F846-B3D2-CFE6-B5190C390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541E-CC53-45E4-8784-91A41757B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322" y="1082673"/>
            <a:ext cx="4313428" cy="4708528"/>
          </a:xfrm>
        </p:spPr>
        <p:txBody>
          <a:bodyPr anchor="ctr">
            <a:normAutofit/>
          </a:bodyPr>
          <a:lstStyle/>
          <a:p>
            <a:r>
              <a:rPr lang="en-US" dirty="0"/>
              <a:t>Add automatic data validation and reduce errors</a:t>
            </a:r>
          </a:p>
          <a:p>
            <a:r>
              <a:rPr lang="en-US" dirty="0"/>
              <a:t> Handling very large datasets efficiently </a:t>
            </a:r>
          </a:p>
          <a:p>
            <a:r>
              <a:rPr lang="en-US" dirty="0"/>
              <a:t>Connect directly to a live database instead of CSV</a:t>
            </a:r>
          </a:p>
          <a:p>
            <a:r>
              <a:rPr lang="en-US" dirty="0"/>
              <a:t> Include student wise payment history</a:t>
            </a:r>
            <a:endParaRPr lang="en-US" sz="1600" dirty="0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8882CD4-AFE6-914C-CAA7-41EB809E1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97" name="Freeform 32">
              <a:extLst>
                <a:ext uri="{FF2B5EF4-FFF2-40B4-BE49-F238E27FC236}">
                  <a16:creationId xmlns:a16="http://schemas.microsoft.com/office/drawing/2014/main" id="{B41BC88C-6FDC-8AAA-AC76-3A2AB49AC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3">
              <a:extLst>
                <a:ext uri="{FF2B5EF4-FFF2-40B4-BE49-F238E27FC236}">
                  <a16:creationId xmlns:a16="http://schemas.microsoft.com/office/drawing/2014/main" id="{AC49ED51-1AD6-583C-A44F-F8778D720B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34">
              <a:extLst>
                <a:ext uri="{FF2B5EF4-FFF2-40B4-BE49-F238E27FC236}">
                  <a16:creationId xmlns:a16="http://schemas.microsoft.com/office/drawing/2014/main" id="{A8A4ACBA-C60E-F7FE-B462-C76B35894D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5">
              <a:extLst>
                <a:ext uri="{FF2B5EF4-FFF2-40B4-BE49-F238E27FC236}">
                  <a16:creationId xmlns:a16="http://schemas.microsoft.com/office/drawing/2014/main" id="{FDC73DB7-FCAE-C427-FE4B-819C532B5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6">
              <a:extLst>
                <a:ext uri="{FF2B5EF4-FFF2-40B4-BE49-F238E27FC236}">
                  <a16:creationId xmlns:a16="http://schemas.microsoft.com/office/drawing/2014/main" id="{26BC5A4E-9B5E-8D67-E4B7-036B63F5A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7">
              <a:extLst>
                <a:ext uri="{FF2B5EF4-FFF2-40B4-BE49-F238E27FC236}">
                  <a16:creationId xmlns:a16="http://schemas.microsoft.com/office/drawing/2014/main" id="{A861690D-C8FD-CDDF-53E5-BCE1B653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8">
              <a:extLst>
                <a:ext uri="{FF2B5EF4-FFF2-40B4-BE49-F238E27FC236}">
                  <a16:creationId xmlns:a16="http://schemas.microsoft.com/office/drawing/2014/main" id="{60B04C2F-42AF-4EA6-C3FD-CDB61B15F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39">
              <a:extLst>
                <a:ext uri="{FF2B5EF4-FFF2-40B4-BE49-F238E27FC236}">
                  <a16:creationId xmlns:a16="http://schemas.microsoft.com/office/drawing/2014/main" id="{8F8AD598-65F9-A000-0041-7536A7CD2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40">
              <a:extLst>
                <a:ext uri="{FF2B5EF4-FFF2-40B4-BE49-F238E27FC236}">
                  <a16:creationId xmlns:a16="http://schemas.microsoft.com/office/drawing/2014/main" id="{8027F8CF-6238-F417-FD49-48DFE6473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Rectangle 41">
              <a:extLst>
                <a:ext uri="{FF2B5EF4-FFF2-40B4-BE49-F238E27FC236}">
                  <a16:creationId xmlns:a16="http://schemas.microsoft.com/office/drawing/2014/main" id="{0231A95C-3AAD-FF77-060F-694FE3B70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F260802-78D3-BB46-D6B0-A380C2C3BF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089"/>
          <a:stretch>
            <a:fillRect/>
          </a:stretch>
        </p:blipFill>
        <p:spPr>
          <a:xfrm>
            <a:off x="6325302" y="1"/>
            <a:ext cx="2818698" cy="58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08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24" y="4539573"/>
            <a:ext cx="6718151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3456" y="5722411"/>
            <a:ext cx="6277087" cy="48033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cap="all">
                <a:solidFill>
                  <a:schemeClr val="bg2"/>
                </a:solidFill>
              </a:rPr>
              <a:t>Questions?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4BD6F4-0556-6878-A84A-8F46A90615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089"/>
          <a:stretch>
            <a:fillRect/>
          </a:stretch>
        </p:blipFill>
        <p:spPr>
          <a:xfrm>
            <a:off x="730226" y="1642168"/>
            <a:ext cx="7700002" cy="1594142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83</TotalTime>
  <Words>462</Words>
  <Application>Microsoft Office PowerPoint</Application>
  <PresentationFormat>On-screen Show (4:3)</PresentationFormat>
  <Paragraphs>144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Californian FB</vt:lpstr>
      <vt:lpstr>Tw Cen MT</vt:lpstr>
      <vt:lpstr>Circuit</vt:lpstr>
      <vt:lpstr>DATA ANALYSIS INTERNSHIP PROJECT </vt:lpstr>
      <vt:lpstr>About the Internship</vt:lpstr>
      <vt:lpstr>Problem Statement</vt:lpstr>
      <vt:lpstr>Dataset Information</vt:lpstr>
      <vt:lpstr>Tools &amp; Technologies Used</vt:lpstr>
      <vt:lpstr>Code</vt:lpstr>
      <vt:lpstr>Code</vt:lpstr>
      <vt:lpstr>outputs</vt:lpstr>
      <vt:lpstr>CHALLENGES FACED</vt:lpstr>
      <vt:lpstr>CONCLUSION</vt:lpstr>
      <vt:lpstr>Future Improvements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Zeba Almas Shaik</dc:creator>
  <cp:keywords/>
  <dc:description>generated using python-pptx</dc:description>
  <cp:lastModifiedBy>Zeba Almas Shaik</cp:lastModifiedBy>
  <cp:revision>3</cp:revision>
  <dcterms:created xsi:type="dcterms:W3CDTF">2013-01-27T09:14:16Z</dcterms:created>
  <dcterms:modified xsi:type="dcterms:W3CDTF">2026-03-05T07:46:34Z</dcterms:modified>
  <cp:category/>
</cp:coreProperties>
</file>